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7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media/image12.png" ContentType="image/png"/>
  <Override PartName="/ppt/media/image10.png" ContentType="image/png"/>
  <Override PartName="/ppt/media/image8.png" ContentType="image/png"/>
  <Override PartName="/ppt/media/image5.png" ContentType="image/png"/>
  <Override PartName="/ppt/media/image7.png" ContentType="image/png"/>
  <Override PartName="/ppt/media/image4.png" ContentType="image/png"/>
  <Override PartName="/ppt/media/image9.jpeg" ContentType="image/jpeg"/>
  <Override PartName="/ppt/media/image3.png" ContentType="image/png"/>
  <Override PartName="/ppt/media/image6.png" ContentType="image/png"/>
  <Override PartName="/ppt/media/image2.jpeg" ContentType="image/jpeg"/>
  <Override PartName="/ppt/media/image11.png" ContentType="image/png"/>
  <Override PartName="/ppt/media/image1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41" name="" descr="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42" name="" descr=""/>
          <p:cNvPicPr/>
          <p:nvPr/>
        </p:nvPicPr>
        <p:blipFill>
          <a:blip r:embed="rId3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83" name="" descr=""/>
          <p:cNvPicPr/>
          <p:nvPr/>
        </p:nvPicPr>
        <p:blipFill>
          <a:blip r:embed="rId3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slideLayout" Target="../slideLayouts/slideLayout2.xml"/><Relationship Id="rId10" Type="http://schemas.openxmlformats.org/officeDocument/2006/relationships/slideLayout" Target="../slideLayouts/slideLayout3.xml"/><Relationship Id="rId11" Type="http://schemas.openxmlformats.org/officeDocument/2006/relationships/slideLayout" Target="../slideLayouts/slideLayout4.xml"/><Relationship Id="rId12" Type="http://schemas.openxmlformats.org/officeDocument/2006/relationships/slideLayout" Target="../slideLayouts/slideLayout5.xml"/><Relationship Id="rId13" Type="http://schemas.openxmlformats.org/officeDocument/2006/relationships/slideLayout" Target="../slideLayouts/slideLayout6.xml"/><Relationship Id="rId14" Type="http://schemas.openxmlformats.org/officeDocument/2006/relationships/slideLayout" Target="../slideLayouts/slideLayout7.xml"/><Relationship Id="rId15" Type="http://schemas.openxmlformats.org/officeDocument/2006/relationships/slideLayout" Target="../slideLayouts/slideLayout8.xml"/><Relationship Id="rId16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0.xml"/><Relationship Id="rId18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"/>
          <p:cNvPicPr/>
          <p:nvPr/>
        </p:nvPicPr>
        <p:blipFill>
          <a:blip r:embed="rId2"/>
          <a:stretch/>
        </p:blipFill>
        <p:spPr>
          <a:xfrm>
            <a:off x="0" y="1750680"/>
            <a:ext cx="9142560" cy="521640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2957040" y="297000"/>
            <a:ext cx="3323520" cy="1233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Picture 4" descr=""/>
          <p:cNvPicPr/>
          <p:nvPr/>
        </p:nvPicPr>
        <p:blipFill>
          <a:blip r:embed="rId3"/>
          <a:stretch/>
        </p:blipFill>
        <p:spPr>
          <a:xfrm>
            <a:off x="613440" y="511200"/>
            <a:ext cx="3157560" cy="936000"/>
          </a:xfrm>
          <a:prstGeom prst="rect">
            <a:avLst/>
          </a:prstGeom>
          <a:ln>
            <a:noFill/>
          </a:ln>
        </p:spPr>
      </p:pic>
      <p:pic>
        <p:nvPicPr>
          <p:cNvPr id="3" name="Picture 5" descr=""/>
          <p:cNvPicPr/>
          <p:nvPr/>
        </p:nvPicPr>
        <p:blipFill>
          <a:blip r:embed="rId4"/>
          <a:stretch/>
        </p:blipFill>
        <p:spPr>
          <a:xfrm>
            <a:off x="5988240" y="606240"/>
            <a:ext cx="524160" cy="521640"/>
          </a:xfrm>
          <a:prstGeom prst="rect">
            <a:avLst/>
          </a:prstGeom>
          <a:ln>
            <a:noFill/>
          </a:ln>
        </p:spPr>
      </p:pic>
      <p:pic>
        <p:nvPicPr>
          <p:cNvPr id="4" name="Picture 6" descr=""/>
          <p:cNvPicPr/>
          <p:nvPr/>
        </p:nvPicPr>
        <p:blipFill>
          <a:blip r:embed="rId5"/>
          <a:stretch/>
        </p:blipFill>
        <p:spPr>
          <a:xfrm>
            <a:off x="6663600" y="606960"/>
            <a:ext cx="524160" cy="521640"/>
          </a:xfrm>
          <a:prstGeom prst="rect">
            <a:avLst/>
          </a:prstGeom>
          <a:ln>
            <a:noFill/>
          </a:ln>
        </p:spPr>
      </p:pic>
      <p:pic>
        <p:nvPicPr>
          <p:cNvPr id="5" name="Picture 7" descr=""/>
          <p:cNvPicPr/>
          <p:nvPr/>
        </p:nvPicPr>
        <p:blipFill>
          <a:blip r:embed="rId6"/>
          <a:stretch/>
        </p:blipFill>
        <p:spPr>
          <a:xfrm>
            <a:off x="7332120" y="606960"/>
            <a:ext cx="524160" cy="521640"/>
          </a:xfrm>
          <a:prstGeom prst="rect">
            <a:avLst/>
          </a:prstGeom>
          <a:ln>
            <a:noFill/>
          </a:ln>
        </p:spPr>
      </p:pic>
      <p:pic>
        <p:nvPicPr>
          <p:cNvPr id="6" name="Picture 8" descr=""/>
          <p:cNvPicPr/>
          <p:nvPr/>
        </p:nvPicPr>
        <p:blipFill>
          <a:blip r:embed="rId7"/>
          <a:stretch/>
        </p:blipFill>
        <p:spPr>
          <a:xfrm>
            <a:off x="7998480" y="606240"/>
            <a:ext cx="524160" cy="521640"/>
          </a:xfrm>
          <a:prstGeom prst="rect">
            <a:avLst/>
          </a:prstGeom>
          <a:ln>
            <a:noFill/>
          </a:ln>
        </p:spPr>
      </p:pic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lang="en-GB" sz="4400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GB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GB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GB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GB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GB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GB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GB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0" r:id="rId1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 flipH="1">
            <a:off x="215280" y="96120"/>
            <a:ext cx="8733600" cy="904680"/>
          </a:xfrm>
          <a:prstGeom prst="round2DiagRect">
            <a:avLst>
              <a:gd name="adj1" fmla="val 41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Line 2"/>
          <p:cNvSpPr/>
          <p:nvPr/>
        </p:nvSpPr>
        <p:spPr>
          <a:xfrm>
            <a:off x="0" y="6212520"/>
            <a:ext cx="9144000" cy="0"/>
          </a:xfrm>
          <a:prstGeom prst="line">
            <a:avLst/>
          </a:prstGeom>
          <a:ln w="63360">
            <a:solidFill>
              <a:srgbClr val="d5e04e"/>
            </a:solidFill>
            <a:round/>
          </a:ln>
        </p:spPr>
      </p:sp>
      <p:sp>
        <p:nvSpPr>
          <p:cNvPr id="45" name="CustomShape 3"/>
          <p:cNvSpPr/>
          <p:nvPr/>
        </p:nvSpPr>
        <p:spPr>
          <a:xfrm>
            <a:off x="3421080" y="6442920"/>
            <a:ext cx="2300400" cy="47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fld id="{C7FCA6C7-570A-49A7-91FC-8DFB04488D08}" type="slidenum">
              <a:rPr lang="en-GB" sz="1000" strike="noStrike">
                <a:solidFill>
                  <a:srgbClr val="bfbfbf"/>
                </a:solidFill>
                <a:latin typeface="Source Sans Pro"/>
                <a:ea typeface="DejaVu Sans"/>
              </a:rPr>
              <a:t>&lt;number&gt;</a:t>
            </a:fld>
            <a:endParaRPr/>
          </a:p>
        </p:txBody>
      </p:sp>
      <p:sp>
        <p:nvSpPr>
          <p:cNvPr id="46" name="CustomShape 4"/>
          <p:cNvSpPr/>
          <p:nvPr/>
        </p:nvSpPr>
        <p:spPr>
          <a:xfrm>
            <a:off x="498240" y="6458760"/>
            <a:ext cx="1848960" cy="2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GB" sz="1000" strike="noStrike">
                <a:solidFill>
                  <a:srgbClr val="bfbfbf"/>
                </a:solidFill>
                <a:latin typeface="Source Sans Pro"/>
                <a:ea typeface="DejaVu Sans"/>
              </a:rPr>
              <a:t>MyScript Company Confidential</a:t>
            </a:r>
            <a:endParaRPr/>
          </a:p>
        </p:txBody>
      </p:sp>
      <p:pic>
        <p:nvPicPr>
          <p:cNvPr id="47" name="Picture 4" descr=""/>
          <p:cNvPicPr/>
          <p:nvPr/>
        </p:nvPicPr>
        <p:blipFill>
          <a:blip r:embed="rId2"/>
          <a:stretch/>
        </p:blipFill>
        <p:spPr>
          <a:xfrm>
            <a:off x="7225200" y="6360840"/>
            <a:ext cx="1618200" cy="479160"/>
          </a:xfrm>
          <a:prstGeom prst="rect">
            <a:avLst/>
          </a:prstGeom>
          <a:ln>
            <a:noFill/>
          </a:ln>
        </p:spPr>
      </p:pic>
      <p:sp>
        <p:nvSpPr>
          <p:cNvPr id="48" name="PlaceHolder 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lang="en-GB" sz="4400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49" name="PlaceHolder 6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GB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GB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GB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GB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GB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GB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GB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685800" y="2779920"/>
            <a:ext cx="7770960" cy="177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>
              <a:lnSpc>
                <a:spcPct val="100000"/>
              </a:lnSpc>
            </a:pPr>
            <a:r>
              <a:rPr lang="en-GB" sz="4000" strike="noStrike">
                <a:solidFill>
                  <a:srgbClr val="ffffff"/>
                </a:solidFill>
                <a:latin typeface="Source Sans Pro Semibold"/>
                <a:ea typeface="DejaVu Sans"/>
              </a:rPr>
              <a:t>MyScriptJS</a:t>
            </a:r>
            <a:endParaRPr/>
          </a:p>
        </p:txBody>
      </p:sp>
      <p:sp>
        <p:nvSpPr>
          <p:cNvPr id="85" name="CustomShape 2"/>
          <p:cNvSpPr/>
          <p:nvPr/>
        </p:nvSpPr>
        <p:spPr>
          <a:xfrm>
            <a:off x="1371600" y="4735800"/>
            <a:ext cx="6399360" cy="129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lang="en-GB" sz="2400" strike="noStrike">
                <a:solidFill>
                  <a:srgbClr val="ffffff"/>
                </a:solidFill>
                <a:latin typeface="Source Sans Pro Semibold"/>
                <a:ea typeface="DejaVu Sans"/>
              </a:rPr>
              <a:t>Scope statement</a:t>
            </a:r>
            <a:endParaRPr/>
          </a:p>
        </p:txBody>
      </p:sp>
      <p:sp>
        <p:nvSpPr>
          <p:cNvPr id="86" name="CustomShape 3"/>
          <p:cNvSpPr/>
          <p:nvPr/>
        </p:nvSpPr>
        <p:spPr>
          <a:xfrm>
            <a:off x="3459240" y="6290640"/>
            <a:ext cx="2424240" cy="36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lang="en-GB" sz="900" strike="noStrike">
                <a:solidFill>
                  <a:srgbClr val="ffffff"/>
                </a:solidFill>
                <a:latin typeface="Arial"/>
                <a:ea typeface="DejaVu Sans"/>
              </a:rPr>
              <a:t>MyScript  Company Confidential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476280" y="1090080"/>
            <a:ext cx="8254800" cy="501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Ease access to MyScript Cloud.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Increase ISV's developement speed drastically. 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Provide High visibility for Web ISV (github, CDN,...)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Leverage web community's interest.</a:t>
            </a:r>
            <a:endParaRPr/>
          </a:p>
          <a:p>
            <a:pPr>
              <a:lnSpc>
                <a:spcPct val="200000"/>
              </a:lnSpc>
            </a:pPr>
            <a:endParaRPr/>
          </a:p>
        </p:txBody>
      </p:sp>
      <p:sp>
        <p:nvSpPr>
          <p:cNvPr id="88" name="CustomShape 2"/>
          <p:cNvSpPr/>
          <p:nvPr/>
        </p:nvSpPr>
        <p:spPr>
          <a:xfrm>
            <a:off x="457200" y="210960"/>
            <a:ext cx="8228160" cy="6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00000"/>
              </a:lnSpc>
            </a:pPr>
            <a:r>
              <a:rPr lang="en-GB" sz="3000" strike="noStrike">
                <a:solidFill>
                  <a:srgbClr val="ffffff"/>
                </a:solidFill>
                <a:latin typeface="Source Sans Pro Semibold"/>
                <a:ea typeface="DejaVu Sans"/>
              </a:rPr>
              <a:t>MyScriptJS – PURPOSE</a:t>
            </a:r>
            <a:endParaRPr/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504000" y="1224000"/>
            <a:ext cx="8254800" cy="501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 </a:t>
            </a: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Javascript library.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Simple components (rebrandable canvas, result box, toolbars,...).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Rich components (Single Char, Math, …) based on Simple components.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Free lib (business based on MyScript Cloud)</a:t>
            </a:r>
            <a:endParaRPr/>
          </a:p>
          <a:p>
            <a:pPr>
              <a:lnSpc>
                <a:spcPct val="200000"/>
              </a:lnSpc>
            </a:pPr>
            <a:endParaRPr/>
          </a:p>
        </p:txBody>
      </p:sp>
      <p:sp>
        <p:nvSpPr>
          <p:cNvPr id="90" name="CustomShape 2"/>
          <p:cNvSpPr/>
          <p:nvPr/>
        </p:nvSpPr>
        <p:spPr>
          <a:xfrm>
            <a:off x="457200" y="210960"/>
            <a:ext cx="8228160" cy="6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00000"/>
              </a:lnSpc>
            </a:pPr>
            <a:r>
              <a:rPr lang="en-GB" sz="3000" strike="noStrike">
                <a:solidFill>
                  <a:srgbClr val="ffffff"/>
                </a:solidFill>
                <a:latin typeface="Source Sans Pro Semibold"/>
                <a:ea typeface="DejaVu Sans"/>
              </a:rPr>
              <a:t>MyScriptJS – HOW 1/2</a:t>
            </a:r>
            <a:endParaRPr/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504000" y="1224000"/>
            <a:ext cx="8254800" cy="501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200000"/>
              </a:lnSpc>
            </a:pPr>
            <a:endParaRPr/>
          </a:p>
          <a:p>
            <a:pPr>
              <a:lnSpc>
                <a:spcPct val="200000"/>
              </a:lnSpc>
            </a:pPr>
            <a:endParaRPr/>
          </a:p>
        </p:txBody>
      </p:sp>
      <p:sp>
        <p:nvSpPr>
          <p:cNvPr id="92" name="CustomShape 2"/>
          <p:cNvSpPr/>
          <p:nvPr/>
        </p:nvSpPr>
        <p:spPr>
          <a:xfrm>
            <a:off x="457200" y="210960"/>
            <a:ext cx="8228160" cy="6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00000"/>
              </a:lnSpc>
            </a:pPr>
            <a:r>
              <a:rPr lang="en-GB" sz="3000" strike="noStrike">
                <a:solidFill>
                  <a:srgbClr val="ffffff"/>
                </a:solidFill>
                <a:latin typeface="Source Sans Pro Semibold"/>
                <a:ea typeface="DejaVu Sans"/>
              </a:rPr>
              <a:t>MyScriptJS – HOW 2/2</a:t>
            </a:r>
            <a:endParaRPr/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2232000" y="1008000"/>
            <a:ext cx="4175640" cy="5183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476280" y="1090080"/>
            <a:ext cx="8254800" cy="501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Based on Polymer JS framework (</a:t>
            </a:r>
            <a:r>
              <a:rPr i="1"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web components</a:t>
            </a: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)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MyScriptJS: </a:t>
            </a:r>
            <a:endParaRPr/>
          </a:p>
          <a:p>
            <a:pPr lvl="1">
              <a:lnSpc>
                <a:spcPct val="200000"/>
              </a:lnSpc>
              <a:buSzPct val="45000"/>
              <a:buFont typeface="StarSymbol"/>
              <a:buChar char=""/>
            </a:pPr>
            <a:r>
              <a:rPr i="1" lang="en-GB" sz="22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Core library</a:t>
            </a:r>
            <a:r>
              <a:rPr i="1" lang="en-GB" sz="22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 (communication, ...).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MyScriptJS-components: </a:t>
            </a:r>
            <a:endParaRPr/>
          </a:p>
          <a:p>
            <a:pPr lvl="1">
              <a:lnSpc>
                <a:spcPct val="200000"/>
              </a:lnSpc>
              <a:buSzPct val="45000"/>
              <a:buFont typeface="StarSymbol"/>
              <a:buChar char=""/>
            </a:pPr>
            <a:r>
              <a:rPr i="1" lang="en-GB" sz="22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Polymer elements (fontification, rendering, …)</a:t>
            </a:r>
            <a:endParaRPr/>
          </a:p>
          <a:p>
            <a:pPr lvl="1">
              <a:lnSpc>
                <a:spcPct val="200000"/>
              </a:lnSpc>
              <a:buSzPct val="45000"/>
              <a:buFont typeface="StarSymbol"/>
              <a:buChar char=""/>
            </a:pPr>
            <a:r>
              <a:rPr i="1" lang="en-GB" sz="22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UI components (canvas, textbox, ...)</a:t>
            </a:r>
            <a:endParaRPr/>
          </a:p>
          <a:p>
            <a:pPr>
              <a:lnSpc>
                <a:spcPct val="200000"/>
              </a:lnSpc>
            </a:pPr>
            <a:endParaRPr/>
          </a:p>
        </p:txBody>
      </p:sp>
      <p:sp>
        <p:nvSpPr>
          <p:cNvPr id="95" name="CustomShape 2"/>
          <p:cNvSpPr/>
          <p:nvPr/>
        </p:nvSpPr>
        <p:spPr>
          <a:xfrm>
            <a:off x="457200" y="210960"/>
            <a:ext cx="8228160" cy="6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00000"/>
              </a:lnSpc>
            </a:pPr>
            <a:r>
              <a:rPr lang="en-GB" sz="3000" strike="noStrike">
                <a:solidFill>
                  <a:srgbClr val="ffffff"/>
                </a:solidFill>
                <a:latin typeface="Source Sans Pro Semibold"/>
                <a:ea typeface="DejaVu Sans"/>
              </a:rPr>
              <a:t>MyScriptJS – Technical Aspects 1/2</a:t>
            </a:r>
            <a:endParaRPr/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476280" y="1090080"/>
            <a:ext cx="8254800" cy="501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Provides UI components (high level).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Provides Service components (medium/low level).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Implements and simplify MyScript Cloud API recognition.</a:t>
            </a:r>
            <a:endParaRPr/>
          </a:p>
          <a:p>
            <a:pPr>
              <a:lnSpc>
                <a:spcPct val="200000"/>
              </a:lnSpc>
            </a:pPr>
            <a:endParaRPr/>
          </a:p>
        </p:txBody>
      </p:sp>
      <p:sp>
        <p:nvSpPr>
          <p:cNvPr id="97" name="CustomShape 2"/>
          <p:cNvSpPr/>
          <p:nvPr/>
        </p:nvSpPr>
        <p:spPr>
          <a:xfrm>
            <a:off x="457200" y="210960"/>
            <a:ext cx="8228160" cy="6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00000"/>
              </a:lnSpc>
            </a:pPr>
            <a:r>
              <a:rPr lang="en-GB" sz="3000" strike="noStrike">
                <a:solidFill>
                  <a:srgbClr val="ffffff"/>
                </a:solidFill>
                <a:latin typeface="Source Sans Pro Semibold"/>
                <a:ea typeface="DejaVu Sans"/>
              </a:rPr>
              <a:t>MyScriptJS – Technical Aspects 2/2</a:t>
            </a:r>
            <a:endParaRPr/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476280" y="1090080"/>
            <a:ext cx="8254800" cy="501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Architecture foundations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Goal: Ink Canvas</a:t>
            </a:r>
            <a:endParaRPr/>
          </a:p>
          <a:p>
            <a:pPr>
              <a:lnSpc>
                <a:spcPct val="200000"/>
              </a:lnSpc>
              <a:buFont typeface="Wingdings" charset="2"/>
              <a:buChar char=""/>
            </a:pPr>
            <a:r>
              <a:rPr lang="en-GB" sz="2400" strike="noStrike">
                <a:solidFill>
                  <a:srgbClr val="000000"/>
                </a:solidFill>
                <a:latin typeface="Source Sans Pro Semibold"/>
                <a:ea typeface="DejaVu Sans"/>
              </a:rPr>
              <a:t>Iterate with equation webdemo in mind.</a:t>
            </a:r>
            <a:endParaRPr/>
          </a:p>
          <a:p>
            <a:pPr>
              <a:lnSpc>
                <a:spcPct val="200000"/>
              </a:lnSpc>
            </a:pPr>
            <a:endParaRPr/>
          </a:p>
        </p:txBody>
      </p:sp>
      <p:sp>
        <p:nvSpPr>
          <p:cNvPr id="99" name="CustomShape 2"/>
          <p:cNvSpPr/>
          <p:nvPr/>
        </p:nvSpPr>
        <p:spPr>
          <a:xfrm>
            <a:off x="457200" y="210960"/>
            <a:ext cx="8228160" cy="6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00000"/>
              </a:lnSpc>
            </a:pPr>
            <a:r>
              <a:rPr lang="en-GB" sz="3000" strike="noStrike">
                <a:solidFill>
                  <a:srgbClr val="ffffff"/>
                </a:solidFill>
                <a:latin typeface="Source Sans Pro Semibold"/>
                <a:ea typeface="DejaVu Sans"/>
              </a:rPr>
              <a:t>MyScriptJS – MyScriptJS 1.0</a:t>
            </a:r>
            <a:endParaRPr/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